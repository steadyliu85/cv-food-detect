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  <p:sldId id="258" r:id="rId4"/>
    <p:sldId id="259" r:id="rId5"/>
    <p:sldId id="262" r:id="rId6"/>
    <p:sldId id="263" r:id="rId7"/>
    <p:sldId id="264" r:id="rId8"/>
    <p:sldId id="266" r:id="rId9"/>
    <p:sldId id="268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42542"/>
                </a:solidFill>
                <a:latin typeface="Microsoft YaHei UI" panose="020B0503020204020204" charset="-122"/>
              </a:rPr>
              <a:t>本周工作记录</a:t>
            </a:r>
            <a:endParaRPr sz="25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731520" y="1508760"/>
            <a:ext cx="33375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932688" y="1737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664B8"/>
                </a:solidFill>
                <a:latin typeface="Microsoft YaHei UI" panose="020B0503020204020204" charset="-122"/>
              </a:rPr>
              <a:t>01</a:t>
            </a:r>
            <a:endParaRPr sz="1800" b="1">
              <a:solidFill>
                <a:srgbClr val="2664B8"/>
              </a:solidFill>
              <a:latin typeface="Microsoft YaHei UI" panose="020B0503020204020204" charset="-122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554480" y="1755648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42542"/>
                </a:solidFill>
                <a:latin typeface="Microsoft YaHei UI" panose="020B0503020204020204" charset="-122"/>
              </a:rPr>
              <a:t>部署约束调整</a:t>
            </a:r>
            <a:endParaRPr sz="18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1051560" y="242316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C6876"/>
                </a:solidFill>
                <a:latin typeface="微软雅黑" panose="020B0503020204020204" charset="-122"/>
              </a:rPr>
              <a:t>模型部分放在云端；本周先验证服务入口、模型路径、超时参数和接口返回。</a:t>
            </a:r>
            <a:endParaRPr sz="150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5"/>
            </p:custDataLst>
          </p:nvPr>
        </p:nvSpPr>
        <p:spPr>
          <a:xfrm>
            <a:off x="4480559" y="1508760"/>
            <a:ext cx="33375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4681727" y="1737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664B8"/>
                </a:solidFill>
                <a:latin typeface="Microsoft YaHei UI" panose="020B0503020204020204" charset="-122"/>
              </a:rPr>
              <a:t>02</a:t>
            </a:r>
            <a:endParaRPr sz="1800" b="1">
              <a:solidFill>
                <a:srgbClr val="2664B8"/>
              </a:solidFill>
              <a:latin typeface="Microsoft YaHei UI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7"/>
            </p:custDataLst>
          </p:nvPr>
        </p:nvSpPr>
        <p:spPr>
          <a:xfrm>
            <a:off x="5303520" y="1755648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42542"/>
                </a:solidFill>
                <a:latin typeface="Microsoft YaHei UI" panose="020B0503020204020204" charset="-122"/>
              </a:rPr>
              <a:t>链路重新确认</a:t>
            </a:r>
            <a:endParaRPr sz="18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4800599" y="242316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C6876"/>
                </a:solidFill>
                <a:latin typeface="微软雅黑" panose="020B0503020204020204" charset="-122"/>
              </a:rPr>
              <a:t>保留单图 depth + support-plane volume 路线，减少前端输入，后端负责完整推理。</a:t>
            </a:r>
            <a:endParaRPr sz="150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9"/>
            </p:custDataLst>
          </p:nvPr>
        </p:nvSpPr>
        <p:spPr>
          <a:xfrm>
            <a:off x="8229600" y="1508760"/>
            <a:ext cx="33375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10"/>
            </p:custDataLst>
          </p:nvPr>
        </p:nvSpPr>
        <p:spPr>
          <a:xfrm>
            <a:off x="8430768" y="17373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664B8"/>
                </a:solidFill>
                <a:latin typeface="Microsoft YaHei UI" panose="020B0503020204020204" charset="-122"/>
              </a:rPr>
              <a:t>03</a:t>
            </a:r>
            <a:endParaRPr sz="1800" b="1">
              <a:solidFill>
                <a:srgbClr val="2664B8"/>
              </a:solidFill>
              <a:latin typeface="Microsoft YaHei UI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11"/>
            </p:custDataLst>
          </p:nvPr>
        </p:nvSpPr>
        <p:spPr>
          <a:xfrm>
            <a:off x="9052560" y="1755648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42542"/>
                </a:solidFill>
                <a:latin typeface="Microsoft YaHei UI" panose="020B0503020204020204" charset="-122"/>
              </a:rPr>
              <a:t>后续模型对比</a:t>
            </a:r>
            <a:endParaRPr sz="18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8549640" y="2423160"/>
            <a:ext cx="269748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1500" b="0">
                <a:solidFill>
                  <a:srgbClr val="5C6876"/>
                </a:solidFill>
                <a:latin typeface="微软雅黑" panose="020B0503020204020204" charset="-122"/>
              </a:rPr>
              <a:t>找到六个</a:t>
            </a:r>
            <a:r>
              <a:rPr sz="1500" b="0">
                <a:solidFill>
                  <a:srgbClr val="5C6876"/>
                </a:solidFill>
                <a:latin typeface="微软雅黑" panose="020B0503020204020204" charset="-122"/>
              </a:rPr>
              <a:t>可替换模型</a:t>
            </a:r>
            <a:endParaRPr sz="150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876"/>
                </a:solidFill>
                <a:latin typeface="微软雅黑" panose="020B0503020204020204" charset="-122"/>
              </a:rPr>
              <a:t>02</a:t>
            </a:r>
            <a:endParaRPr sz="8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42542"/>
                </a:solidFill>
                <a:latin typeface="Microsoft YaHei UI" panose="020B0503020204020204" charset="-122"/>
              </a:rPr>
              <a:t>总体架构调整：端侧轻量化，云端集中推理</a:t>
            </a:r>
            <a:endParaRPr sz="25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小程序端保留拍摄、上传、可选食物类别与展示功能。</a:t>
            </a:r>
          </a:p>
          <a:p>
            <a:pPr>
              <a:spcAft>
                <a:spcPts val="700"/>
              </a:spcAft>
              <a:defRPr sz="160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云端后端承担自动 mask、相机参数推断、metric depth、3D scaffold、体积与热量估计。</a:t>
            </a:r>
          </a:p>
          <a:p>
            <a:pPr>
              <a:spcAft>
                <a:spcPts val="700"/>
              </a:spcAft>
              <a:defRPr sz="160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服务侧新增统一 HTTP 接口，避免小程序直接调用算法脚本。</a:t>
            </a:r>
          </a:p>
          <a:p>
            <a:pPr>
              <a:spcAft>
                <a:spcPts val="700"/>
              </a:spcAft>
              <a:defRPr sz="160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后续性能评估从端侧模型体量转为云端热启动耗时与服务稳定性。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325880"/>
            <a:ext cx="53949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645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664B8"/>
                </a:solidFill>
                <a:latin typeface="Microsoft YaHei UI" panose="020B0503020204020204" charset="-122"/>
              </a:rPr>
              <a:t>前端</a:t>
            </a:r>
            <a:endParaRPr sz="1700" b="1">
              <a:solidFill>
                <a:srgbClr val="2664B8"/>
              </a:solidFill>
              <a:latin typeface="Microsoft YaHei U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89320" y="2148840"/>
            <a:ext cx="1371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42542"/>
                </a:solidFill>
                <a:latin typeface="微软雅黑" panose="020B0503020204020204" charset="-122"/>
              </a:rPr>
              <a:t>拍摄/上传图片
可选食物类别
可选手机型号
结果展示</a:t>
            </a:r>
            <a:endParaRPr sz="1300" b="0">
              <a:solidFill>
                <a:srgbClr val="142542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52360" y="24231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664B8"/>
                </a:solidFill>
                <a:latin typeface="Microsoft YaHei UI" panose="020B0503020204020204" charset="-122"/>
              </a:rPr>
              <a:t>→</a:t>
            </a:r>
            <a:endParaRPr sz="2400" b="1">
              <a:solidFill>
                <a:srgbClr val="2664B8"/>
              </a:solidFill>
              <a:latin typeface="Microsoft YaHei UI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01000" y="16459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664B8"/>
                </a:solidFill>
                <a:latin typeface="Microsoft YaHei UI" panose="020B0503020204020204" charset="-122"/>
              </a:rPr>
              <a:t>云端后端</a:t>
            </a:r>
            <a:endParaRPr sz="1700" b="1">
              <a:solidFill>
                <a:srgbClr val="2664B8"/>
              </a:solidFill>
              <a:latin typeface="Microsoft YaHei UI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40" y="214884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42542"/>
                </a:solidFill>
                <a:latin typeface="微软雅黑" panose="020B0503020204020204" charset="-122"/>
              </a:rPr>
              <a:t>FastAPI 接口
DepthPro 推理
3D scaffold
体积与 kcal</a:t>
            </a:r>
            <a:endParaRPr sz="1300" b="0">
              <a:solidFill>
                <a:srgbClr val="14254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55480" y="24231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664B8"/>
                </a:solidFill>
                <a:latin typeface="Microsoft YaHei UI" panose="020B0503020204020204" charset="-122"/>
              </a:rPr>
              <a:t>→</a:t>
            </a:r>
            <a:endParaRPr sz="2400" b="1">
              <a:solidFill>
                <a:srgbClr val="2664B8"/>
              </a:solidFill>
              <a:latin typeface="Microsoft YaHei UI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104120" y="1645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664B8"/>
                </a:solidFill>
                <a:latin typeface="Microsoft YaHei UI" panose="020B0503020204020204" charset="-122"/>
              </a:rPr>
              <a:t>输出</a:t>
            </a:r>
            <a:endParaRPr sz="1700" b="1">
              <a:solidFill>
                <a:srgbClr val="2664B8"/>
              </a:solidFill>
              <a:latin typeface="Microsoft YaHei UI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66960" y="2148840"/>
            <a:ext cx="1188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42542"/>
                </a:solidFill>
                <a:latin typeface="微软雅黑" panose="020B0503020204020204" charset="-122"/>
              </a:rPr>
              <a:t>volume
mass
kcal
可视化结果</a:t>
            </a:r>
            <a:endParaRPr sz="1300" b="0">
              <a:solidFill>
                <a:srgbClr val="142542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876"/>
                </a:solidFill>
                <a:latin typeface="微软雅黑" panose="020B0503020204020204" charset="-122"/>
              </a:rPr>
              <a:t>03</a:t>
            </a:r>
            <a:endParaRPr sz="8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42542"/>
                </a:solidFill>
                <a:latin typeface="Microsoft YaHei UI" panose="020B0503020204020204" charset="-122"/>
              </a:rPr>
              <a:t>链路：</a:t>
            </a:r>
            <a:endParaRPr sz="25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1325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1581912"/>
            <a:ext cx="1179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2542"/>
                </a:solidFill>
                <a:latin typeface="Microsoft YaHei UI" panose="020B0503020204020204" charset="-122"/>
              </a:rPr>
              <a:t>RGB 图像</a:t>
            </a:r>
            <a:endParaRPr sz="13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73936" y="1618488"/>
            <a:ext cx="91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64B8"/>
                </a:solidFill>
                <a:latin typeface="Microsoft YaHei UI" panose="020B0503020204020204" charset="-122"/>
              </a:rPr>
              <a:t>→</a:t>
            </a:r>
            <a:endParaRPr sz="2200" b="1">
              <a:solidFill>
                <a:srgbClr val="2664B8"/>
              </a:solidFill>
              <a:latin typeface="Microsoft YaHei UI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901952" y="1417320"/>
            <a:ext cx="1325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75104" y="1581912"/>
            <a:ext cx="1179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2542"/>
                </a:solidFill>
                <a:latin typeface="Microsoft YaHei UI" panose="020B0503020204020204" charset="-122"/>
              </a:rPr>
              <a:t>自动 mask</a:t>
            </a:r>
            <a:endParaRPr sz="13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64408" y="1618488"/>
            <a:ext cx="91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64B8"/>
                </a:solidFill>
                <a:latin typeface="Microsoft YaHei UI" panose="020B0503020204020204" charset="-122"/>
              </a:rPr>
              <a:t>→</a:t>
            </a:r>
            <a:endParaRPr sz="2200" b="1">
              <a:solidFill>
                <a:srgbClr val="2664B8"/>
              </a:solidFill>
              <a:latin typeface="Microsoft YaHei UI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392424" y="1417320"/>
            <a:ext cx="1325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5576" y="1581912"/>
            <a:ext cx="1179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2542"/>
                </a:solidFill>
                <a:latin typeface="Microsoft YaHei UI" panose="020B0503020204020204" charset="-122"/>
              </a:rPr>
              <a:t>相机参数</a:t>
            </a:r>
            <a:endParaRPr sz="13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54880" y="1618488"/>
            <a:ext cx="91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64B8"/>
                </a:solidFill>
                <a:latin typeface="Microsoft YaHei UI" panose="020B0503020204020204" charset="-122"/>
              </a:rPr>
              <a:t>→</a:t>
            </a:r>
            <a:endParaRPr sz="2200" b="1">
              <a:solidFill>
                <a:srgbClr val="2664B8"/>
              </a:solidFill>
              <a:latin typeface="Microsoft YaHei UI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882896" y="1417320"/>
            <a:ext cx="1325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56048" y="1581912"/>
            <a:ext cx="1179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2542"/>
                </a:solidFill>
                <a:latin typeface="Microsoft YaHei UI" panose="020B0503020204020204" charset="-122"/>
              </a:rPr>
              <a:t>DepthPro</a:t>
            </a:r>
            <a:endParaRPr sz="13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45352" y="1618488"/>
            <a:ext cx="91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64B8"/>
                </a:solidFill>
                <a:latin typeface="Microsoft YaHei UI" panose="020B0503020204020204" charset="-122"/>
              </a:rPr>
              <a:t>→</a:t>
            </a:r>
            <a:endParaRPr sz="2200" b="1">
              <a:solidFill>
                <a:srgbClr val="2664B8"/>
              </a:solidFill>
              <a:latin typeface="Microsoft YaHei UI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73368" y="1417320"/>
            <a:ext cx="1325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81912"/>
            <a:ext cx="1179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2542"/>
                </a:solidFill>
                <a:latin typeface="Microsoft YaHei UI" panose="020B0503020204020204" charset="-122"/>
              </a:rPr>
              <a:t>3D scaffold</a:t>
            </a:r>
            <a:endParaRPr sz="13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35823" y="1618488"/>
            <a:ext cx="91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64B8"/>
                </a:solidFill>
                <a:latin typeface="Microsoft YaHei UI" panose="020B0503020204020204" charset="-122"/>
              </a:rPr>
              <a:t>→</a:t>
            </a:r>
            <a:endParaRPr sz="2200" b="1">
              <a:solidFill>
                <a:srgbClr val="2664B8"/>
              </a:solidFill>
              <a:latin typeface="Microsoft YaHei UI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863839" y="1417320"/>
            <a:ext cx="1325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6991" y="1581912"/>
            <a:ext cx="1179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2542"/>
                </a:solidFill>
                <a:latin typeface="Microsoft YaHei UI" panose="020B0503020204020204" charset="-122"/>
              </a:rPr>
              <a:t>支撑平面</a:t>
            </a:r>
            <a:endParaRPr sz="13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26295" y="1618488"/>
            <a:ext cx="91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664B8"/>
                </a:solidFill>
                <a:latin typeface="Microsoft YaHei UI" panose="020B0503020204020204" charset="-122"/>
              </a:rPr>
              <a:t>→</a:t>
            </a:r>
            <a:endParaRPr sz="2200" b="1">
              <a:solidFill>
                <a:srgbClr val="2664B8"/>
              </a:solidFill>
              <a:latin typeface="Microsoft YaHei UI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354311" y="1417320"/>
            <a:ext cx="1325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27463" y="1581912"/>
            <a:ext cx="117957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2542"/>
                </a:solidFill>
                <a:latin typeface="Microsoft YaHei UI" panose="020B0503020204020204" charset="-122"/>
              </a:rPr>
              <a:t>体积/kcal</a:t>
            </a:r>
            <a:endParaRPr sz="13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85800" y="2788920"/>
            <a:ext cx="51206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035808"/>
            <a:ext cx="402336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542"/>
                </a:solidFill>
                <a:latin typeface="Microsoft YaHei UI" panose="020B0503020204020204" charset="-122"/>
              </a:rPr>
              <a:t>逻辑</a:t>
            </a:r>
            <a:endParaRPr sz="17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0120" y="3474720"/>
            <a:ext cx="4389120" cy="139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通过 metric depth 将图像像素反投影为三维点集</a:t>
            </a:r>
          </a:p>
          <a:p>
            <a:pPr>
              <a:spcAft>
                <a:spcPts val="700"/>
              </a:spcAft>
              <a:defRPr sz="135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基于 mask 提取食物区域的 3D scaffold</a:t>
            </a:r>
          </a:p>
          <a:p>
            <a:pPr>
              <a:spcAft>
                <a:spcPts val="700"/>
              </a:spcAft>
              <a:defRPr sz="135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利用食物周边区域拟合支撑平面，进行高度积分得到体积</a:t>
            </a:r>
          </a:p>
          <a:p>
            <a:pPr>
              <a:spcAft>
                <a:spcPts val="700"/>
              </a:spcAft>
              <a:defRPr sz="135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结合食物密度与 kcal/100g 先验输出热量估计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788920"/>
            <a:ext cx="48920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035808"/>
            <a:ext cx="402336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542"/>
                </a:solidFill>
                <a:latin typeface="Microsoft YaHei UI" panose="020B0503020204020204" charset="-122"/>
              </a:rPr>
              <a:t>变更</a:t>
            </a:r>
            <a:endParaRPr sz="17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92240" y="3474720"/>
            <a:ext cx="4297680" cy="139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后端服务接口：`/api/v1/food-volume`</a:t>
            </a:r>
          </a:p>
          <a:p>
            <a:pPr>
              <a:spcAft>
                <a:spcPts val="700"/>
              </a:spcAft>
              <a:defRPr sz="135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健康检查接口：`/health`</a:t>
            </a:r>
          </a:p>
          <a:p>
            <a:pPr>
              <a:spcAft>
                <a:spcPts val="700"/>
              </a:spcAft>
              <a:defRPr sz="135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推理超时控制：`FOOD_VOLUME_TIMEOUT_SECONDS`</a:t>
            </a:r>
          </a:p>
          <a:p>
            <a:pPr>
              <a:spcAft>
                <a:spcPts val="700"/>
              </a:spcAft>
              <a:defRPr sz="135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分段耗时记录：mask、DepthPro、volume、total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876"/>
                </a:solidFill>
                <a:latin typeface="微软雅黑" panose="020B0503020204020204" charset="-122"/>
              </a:rPr>
              <a:t>04</a:t>
            </a:r>
            <a:endParaRPr sz="8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42542"/>
                </a:solidFill>
                <a:latin typeface="Microsoft YaHei UI" panose="020B0503020204020204" charset="-122"/>
              </a:rPr>
              <a:t>后端接口设计</a:t>
            </a:r>
            <a:endParaRPr sz="25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de_backend_ap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70432"/>
            <a:ext cx="5669280" cy="4526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37960" y="1325880"/>
            <a:ext cx="48006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12280" y="1627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542"/>
                </a:solidFill>
                <a:latin typeface="Microsoft YaHei UI" panose="020B0503020204020204" charset="-122"/>
              </a:rPr>
              <a:t>接口输入</a:t>
            </a:r>
            <a:endParaRPr sz="17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12280" y="2057400"/>
            <a:ext cx="4160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`image`：必填，用户拍摄图片。</a:t>
            </a:r>
          </a:p>
          <a:p>
            <a:pPr>
              <a:spcAft>
                <a:spcPts val="700"/>
              </a:spcAft>
              <a:defRPr sz="135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`food`：可选，食物类别。</a:t>
            </a:r>
          </a:p>
          <a:p>
            <a:pPr>
              <a:spcAft>
                <a:spcPts val="700"/>
              </a:spcAft>
              <a:defRPr sz="135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`phone_model`：可选，相机参数匹配。</a:t>
            </a:r>
          </a:p>
          <a:p>
            <a:pPr>
              <a:spcAft>
                <a:spcPts val="700"/>
              </a:spcAft>
              <a:defRPr sz="135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`prompt`：可选，自动分割文本提示。</a:t>
            </a:r>
          </a:p>
          <a:p>
            <a:pPr>
              <a:spcAft>
                <a:spcPts val="700"/>
              </a:spcAft>
              <a:defRPr sz="135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`mask / intrinsics`：调试阶段可选输入。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542"/>
                </a:solidFill>
                <a:latin typeface="Microsoft YaHei UI" panose="020B0503020204020204" charset="-122"/>
              </a:rPr>
              <a:t>接口输出</a:t>
            </a:r>
            <a:endParaRPr sz="17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12280" y="4069080"/>
            <a:ext cx="4160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`request_id`、`elapsed_seconds`、`output_dir`。</a:t>
            </a:r>
          </a:p>
          <a:p>
            <a:pPr>
              <a:spcAft>
                <a:spcPts val="700"/>
              </a:spcAft>
              <a:defRPr sz="135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`pipeline_summary`：链路摘要与分段耗时。</a:t>
            </a:r>
          </a:p>
          <a:p>
            <a:pPr>
              <a:spcAft>
                <a:spcPts val="700"/>
              </a:spcAft>
              <a:defRPr sz="135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`volume_summary`：体积、质量和热量估计。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876"/>
                </a:solidFill>
                <a:latin typeface="微软雅黑" panose="020B0503020204020204" charset="-122"/>
              </a:rPr>
              <a:t>07</a:t>
            </a:r>
            <a:endParaRPr sz="8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42542"/>
                </a:solidFill>
                <a:latin typeface="Microsoft YaHei UI" panose="020B0503020204020204" charset="-122"/>
              </a:rPr>
              <a:t>10 秒推理目标的量化记录方式</a:t>
            </a:r>
            <a:endParaRPr sz="25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de_timing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0160"/>
            <a:ext cx="5394960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280160"/>
            <a:ext cx="47548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542"/>
                </a:solidFill>
                <a:latin typeface="Microsoft YaHei UI" panose="020B0503020204020204" charset="-122"/>
              </a:rPr>
              <a:t>计时口径</a:t>
            </a:r>
            <a:endParaRPr sz="17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75120" y="205740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`auto_mask_seconds`：自动检测与分割耗时。</a:t>
            </a:r>
          </a:p>
          <a:p>
            <a:pPr>
              <a:spcAft>
                <a:spcPts val="700"/>
              </a:spcAft>
              <a:defRPr sz="140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`depthpro_seconds`：DepthPro 深度估计与 scaffold 构建耗时。</a:t>
            </a:r>
          </a:p>
          <a:p>
            <a:pPr>
              <a:spcAft>
                <a:spcPts val="700"/>
              </a:spcAft>
              <a:defRPr sz="140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`volume_seconds`：支撑平面体积与热量计算耗时。</a:t>
            </a:r>
          </a:p>
          <a:p>
            <a:pPr>
              <a:spcAft>
                <a:spcPts val="700"/>
              </a:spcAft>
              <a:defRPr sz="140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`total_seconds`：完整请求链路总耗时。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54880"/>
            <a:ext cx="10515600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5C6876"/>
                </a:solidFill>
                <a:latin typeface="微软雅黑" panose="020B0503020204020204" charset="-122"/>
              </a:rPr>
              <a:t>正式性能评估需在云端 GPU 环境中进行热启动测试；本地 CPU 环境不作为最终性能结论。</a:t>
            </a:r>
            <a:endParaRPr sz="13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876"/>
                </a:solidFill>
                <a:latin typeface="微软雅黑" panose="020B0503020204020204" charset="-122"/>
              </a:rPr>
              <a:t>08</a:t>
            </a:r>
            <a:endParaRPr sz="8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42542"/>
                </a:solidFill>
                <a:latin typeface="Microsoft YaHei UI" panose="020B0503020204020204" charset="-122"/>
              </a:rPr>
              <a:t>后端服务运行验证</a:t>
            </a:r>
            <a:endParaRPr sz="25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rminal_uvicorn_start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5669280" cy="2880360"/>
          </a:xfrm>
          <a:prstGeom prst="rect">
            <a:avLst/>
          </a:prstGeom>
        </p:spPr>
      </p:pic>
      <p:pic>
        <p:nvPicPr>
          <p:cNvPr id="5" name="Picture 4" descr="terminal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234440"/>
            <a:ext cx="5120640" cy="2331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46520" y="3886200"/>
            <a:ext cx="5120640" cy="16668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41148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42542"/>
                </a:solidFill>
                <a:latin typeface="Microsoft YaHei UI" panose="020B0503020204020204" charset="-122"/>
              </a:rPr>
              <a:t>验证结果</a:t>
            </a:r>
            <a:endParaRPr sz="16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20840" y="4462272"/>
            <a:ext cx="4389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Uvicorn 服务已在 8000 端口启动。</a:t>
            </a:r>
          </a:p>
          <a:p>
            <a:pPr>
              <a:spcAft>
                <a:spcPts val="700"/>
              </a:spcAft>
              <a:defRPr sz="122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`/health` 返回 `status=ok`。</a:t>
            </a:r>
          </a:p>
          <a:p>
            <a:pPr>
              <a:spcAft>
                <a:spcPts val="700"/>
              </a:spcAft>
              <a:defRPr sz="122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`checkpoint_exists=true`，本地 DepthPro 权重路径可访问。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876"/>
                </a:solidFill>
                <a:latin typeface="微软雅黑" panose="020B0503020204020204" charset="-122"/>
              </a:rPr>
              <a:t>09</a:t>
            </a:r>
            <a:endParaRPr sz="8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42542"/>
                </a:solidFill>
                <a:latin typeface="Microsoft YaHei UI" panose="020B0503020204020204" charset="-122"/>
              </a:rPr>
              <a:t>本地 smoke test 摘要</a:t>
            </a:r>
            <a:endParaRPr sz="25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417320"/>
          <a:ext cx="52578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</a:tblGrid>
              <a:tr h="4953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4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14254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模型分支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Apple DepthPro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焦距预测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2038.19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食物区域深度范围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1.445 m - 1.641 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scaffold 点数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38196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bbox extent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0.298 m × 0.240 m × 0.196 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0" y="1417320"/>
            <a:ext cx="493776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2542"/>
                </a:solidFill>
                <a:latin typeface="Microsoft YaHei UI" panose="020B0503020204020204" charset="-122"/>
              </a:rPr>
              <a:t>解释边界</a:t>
            </a:r>
            <a:endParaRPr sz="17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75120" y="2148840"/>
            <a:ext cx="4160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该测试用于证明 DepthPro、mask、scaffold 输出链路可执行。</a:t>
            </a:r>
          </a:p>
          <a:p>
            <a:pPr>
              <a:spcAft>
                <a:spcPts val="700"/>
              </a:spcAft>
              <a:defRPr sz="140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当前样例不作为最终体积精度结论。</a:t>
            </a:r>
          </a:p>
          <a:p>
            <a:pPr>
              <a:spcAft>
                <a:spcPts val="700"/>
              </a:spcAft>
              <a:defRPr sz="140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后续基于已有 work 数据集统计误差与失败类型。</a:t>
            </a:r>
          </a:p>
          <a:p>
            <a:pPr>
              <a:spcAft>
                <a:spcPts val="700"/>
              </a:spcAft>
              <a:defRPr sz="1400">
                <a:solidFill>
                  <a:srgbClr val="142542"/>
                </a:solidFill>
                <a:latin typeface="微软雅黑" panose="020B0503020204020204" charset="-122"/>
              </a:defRPr>
            </a:pPr>
            <a:r>
              <a:t>复杂中餐场景仍需重点验证分割与支撑平面鲁棒性。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876"/>
                </a:solidFill>
                <a:latin typeface="微软雅黑" panose="020B0503020204020204" charset="-122"/>
              </a:rPr>
              <a:t>11</a:t>
            </a:r>
            <a:endParaRPr sz="8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42542"/>
                </a:solidFill>
                <a:latin typeface="Microsoft YaHei UI" panose="020B0503020204020204" charset="-122"/>
              </a:rPr>
              <a:t>可替代模型</a:t>
            </a:r>
            <a:endParaRPr sz="2500" b="1">
              <a:solidFill>
                <a:srgbClr val="142542"/>
              </a:solidFill>
              <a:latin typeface="Microsoft YaHei UI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11155680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2014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6335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候选方向</a:t>
                      </a:r>
                    </a:p>
                  </a:txBody>
                  <a:tcPr>
                    <a:solidFill>
                      <a:srgbClr val="14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作用</a:t>
                      </a:r>
                    </a:p>
                  </a:txBody>
                  <a:tcPr>
                    <a:solidFill>
                      <a:srgbClr val="14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本项目定位</a:t>
                      </a:r>
                    </a:p>
                  </a:txBody>
                  <a:tcPr>
                    <a:solidFill>
                      <a:srgbClr val="142542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DepthPro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metric depth + 焦距估计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适合云端验证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UniDepth / UniDepthV2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通用 metric 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作为无内参尺度恢复对照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Metric3D / Metric3D V2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通用单目 metric depth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作为深度模型横向对比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Depth Anything V2 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模型生态完整、体量选择更多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需验证近距离食物尺度偏差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Grounded-SAM-2 / SAM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文本提示或交互式分割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提升自动 mask 稳定性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3355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YOLOE / 开放词表分割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检测与分割一体化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542"/>
                          </a:solidFill>
                          <a:latin typeface="微软雅黑" panose="020B0503020204020204" charset="-122"/>
                        </a:defRPr>
                      </a:pPr>
                      <a:r>
                        <a:t>减少 GroundingDINO 依赖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92840" y="65379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876"/>
                </a:solidFill>
                <a:latin typeface="微软雅黑" panose="020B0503020204020204" charset="-122"/>
              </a:rPr>
              <a:t>13</a:t>
            </a:r>
            <a:endParaRPr sz="850" b="0">
              <a:solidFill>
                <a:srgbClr val="5C687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5.6,&quot;left&quot;:57.6,&quot;top&quot;:118.8,&quot;width&quot;:853.2}"/>
</p:tagLst>
</file>

<file path=ppt/tags/tag2.xml><?xml version="1.0" encoding="utf-8"?>
<p:tagLst xmlns:p="http://schemas.openxmlformats.org/presentationml/2006/main">
  <p:tag name="KSO_WM_DIAGRAM_VIRTUALLY_FRAME" val="{&quot;height&quot;:255.6,&quot;left&quot;:57.6,&quot;top&quot;:118.8,&quot;width&quot;:853.2}"/>
</p:tagLst>
</file>

<file path=ppt/tags/tag3.xml><?xml version="1.0" encoding="utf-8"?>
<p:tagLst xmlns:p="http://schemas.openxmlformats.org/presentationml/2006/main">
  <p:tag name="KSO_WM_DIAGRAM_VIRTUALLY_FRAME" val="{&quot;height&quot;:255.6,&quot;left&quot;:57.6,&quot;top&quot;:118.8,&quot;width&quot;:853.2}"/>
</p:tagLst>
</file>

<file path=ppt/tags/tag4.xml><?xml version="1.0" encoding="utf-8"?>
<p:tagLst xmlns:p="http://schemas.openxmlformats.org/presentationml/2006/main">
  <p:tag name="KSO_WM_DIAGRAM_VIRTUALLY_FRAME" val="{&quot;height&quot;:255.6,&quot;left&quot;:57.6,&quot;top&quot;:118.8,&quot;width&quot;:853.2}"/>
</p:tagLst>
</file>

<file path=ppt/tags/tag5.xml><?xml version="1.0" encoding="utf-8"?>
<p:tagLst xmlns:p="http://schemas.openxmlformats.org/presentationml/2006/main">
  <p:tag name="KSO_WM_DIAGRAM_VIRTUALLY_FRAME" val="{&quot;height&quot;:255.6,&quot;left&quot;:57.6,&quot;top&quot;:118.8,&quot;width&quot;:853.2}"/>
</p:tagLst>
</file>

<file path=ppt/tags/tag6.xml><?xml version="1.0" encoding="utf-8"?>
<p:tagLst xmlns:p="http://schemas.openxmlformats.org/presentationml/2006/main">
  <p:tag name="KSO_WM_DIAGRAM_VIRTUALLY_FRAME" val="{&quot;height&quot;:255.6,&quot;left&quot;:57.6,&quot;top&quot;:118.8,&quot;width&quot;:853.2}"/>
</p:tagLst>
</file>

<file path=ppt/tags/tag7.xml><?xml version="1.0" encoding="utf-8"?>
<p:tagLst xmlns:p="http://schemas.openxmlformats.org/presentationml/2006/main">
  <p:tag name="KSO_WM_DIAGRAM_VIRTUALLY_FRAME" val="{&quot;height&quot;:255.6,&quot;left&quot;:57.6,&quot;top&quot;:118.8,&quot;width&quot;:853.2}"/>
</p:tagLst>
</file>

<file path=ppt/tags/tag8.xml><?xml version="1.0" encoding="utf-8"?>
<p:tagLst xmlns:p="http://schemas.openxmlformats.org/presentationml/2006/main">
  <p:tag name="KSO_WM_DIAGRAM_VIRTUALLY_FRAME" val="{&quot;height&quot;:255.6,&quot;left&quot;:57.6,&quot;top&quot;:118.8,&quot;width&quot;:853.2}"/>
</p:tagLst>
</file>

<file path=ppt/tags/tag9.xml><?xml version="1.0" encoding="utf-8"?>
<p:tagLst xmlns:p="http://schemas.openxmlformats.org/presentationml/2006/main">
  <p:tag name="KSO_WM_DIAGRAM_VIRTUALLY_FRAME" val="{&quot;height&quot;:255.6,&quot;left&quot;:57.6,&quot;top&quot;:118.8,&quot;width&quot;:853.2}"/>
</p:tagLst>
</file>

<file path=ppt/tags/tag10.xml><?xml version="1.0" encoding="utf-8"?>
<p:tagLst xmlns:p="http://schemas.openxmlformats.org/presentationml/2006/main">
  <p:tag name="KSO_WM_DIAGRAM_VIRTUALLY_FRAME" val="{&quot;height&quot;:255.6,&quot;left&quot;:57.6,&quot;top&quot;:118.8,&quot;width&quot;:853.2}"/>
</p:tagLst>
</file>

<file path=ppt/tags/tag11.xml><?xml version="1.0" encoding="utf-8"?>
<p:tagLst xmlns:p="http://schemas.openxmlformats.org/presentationml/2006/main">
  <p:tag name="KSO_WM_DIAGRAM_VIRTUALLY_FRAME" val="{&quot;height&quot;:255.6,&quot;left&quot;:57.6,&quot;top&quot;:118.8,&quot;width&quot;:853.2}"/>
</p:tagLst>
</file>

<file path=ppt/tags/tag12.xml><?xml version="1.0" encoding="utf-8"?>
<p:tagLst xmlns:p="http://schemas.openxmlformats.org/presentationml/2006/main">
  <p:tag name="KSO_WM_DIAGRAM_VIRTUALLY_FRAME" val="{&quot;height&quot;:255.6,&quot;left&quot;:57.6,&quot;top&quot;:118.8,&quot;width&quot;:853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1723</Words>
  <Application>WPS 演示</Application>
  <PresentationFormat>On-screen Show (4:3)</PresentationFormat>
  <Paragraphs>213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Arial</vt:lpstr>
      <vt:lpstr>Microsoft YaHei UI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Happyzjf</cp:lastModifiedBy>
  <cp:revision>4</cp:revision>
  <dcterms:created xsi:type="dcterms:W3CDTF">2013-01-27T09:14:00Z</dcterms:created>
  <dcterms:modified xsi:type="dcterms:W3CDTF">2026-07-15T16:01:52Z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4F4574C93D5C4272BE60937C8B853047_12</vt:lpwstr>
  </property>
  <property fmtid="{D5CDD505-2E9C-101B-9397-08002B2CF9AE}" pid="3" name="KSOProductBuildVer">
    <vt:lpwstr>2052-12.1.0.26895</vt:lpwstr>
  </property>
</Properties>
</file>